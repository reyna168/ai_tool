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1"/>
  </p:sldMasterIdLst>
  <p:sldIdLst>
    <p:sldId id="256" r:id="rId2"/>
    <p:sldId id="265" r:id="rId3"/>
    <p:sldId id="264" r:id="rId4"/>
    <p:sldId id="258" r:id="rId5"/>
    <p:sldId id="259" r:id="rId6"/>
    <p:sldId id="263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AAD4A-92A1-0760-F03D-4B9F061497F4}" v="168" dt="2025-11-14T02:44:10.860"/>
    <p1510:client id="{16E1884F-7158-8A5C-9734-6F3CFD46F529}" v="1" dt="2025-11-14T02:45:50.597"/>
    <p1510:client id="{F8B1F9C5-FFD3-34D4-0FDD-A239CE1532D3}" v="1590" dt="2025-11-13T08:25:11.0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99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2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7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46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4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23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1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83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6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85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98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13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1388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01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33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76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3377" y="2404534"/>
            <a:ext cx="6873668" cy="1636697"/>
          </a:xfrm>
        </p:spPr>
        <p:txBody>
          <a:bodyPr/>
          <a:lstStyle/>
          <a:p>
            <a:r>
              <a:rPr dirty="0"/>
              <a:t>2025 </a:t>
            </a:r>
            <a:r>
              <a:rPr dirty="0" err="1"/>
              <a:t>尾牙活動企劃案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err="1"/>
              <a:t>活動時間：中午</a:t>
            </a:r>
            <a:r>
              <a:rPr dirty="0"/>
              <a:t> 12:00 - </a:t>
            </a:r>
            <a:r>
              <a:rPr err="1"/>
              <a:t>下午</a:t>
            </a:r>
            <a:r>
              <a:rPr dirty="0"/>
              <a:t> 15:00</a:t>
            </a:r>
            <a:endParaRPr lang="zh-TW" altLang="en-US">
              <a:ea typeface="微軟正黑體"/>
            </a:endParaRPr>
          </a:p>
          <a:p>
            <a:r>
              <a:rPr err="1"/>
              <a:t>活動人數：約</a:t>
            </a:r>
            <a:r>
              <a:rPr dirty="0"/>
              <a:t> 100 人</a:t>
            </a:r>
          </a:p>
          <a:p>
            <a:r>
              <a:rPr err="1"/>
              <a:t>主題</a:t>
            </a:r>
            <a:r>
              <a:rPr dirty="0"/>
              <a:t>：</a:t>
            </a:r>
            <a:r>
              <a:rPr lang="zh-TW" altLang="en-US">
                <a:ea typeface="微軟正黑體"/>
              </a:rPr>
              <a:t>年終尾牙活動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3713A-B506-2080-B460-AC9257C2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8AA51-A3A0-EF4B-CC84-013DBF32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💰 </a:t>
            </a:r>
            <a:r>
              <a:rPr lang="zh-TW"/>
              <a:t>分工</a:t>
            </a:r>
            <a:endParaRPr lang="zh-CN" altLang="en-US">
              <a:ea typeface="方正姚体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EF234-F30B-D278-CF68-93F70C8CD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zh-TW" altLang="en-US" sz="1600" dirty="0">
              <a:ea typeface="微軟正黑體"/>
            </a:endParaRPr>
          </a:p>
          <a:p>
            <a:r>
              <a:rPr lang="zh-TW" sz="1600">
                <a:ea typeface="微軟正黑體"/>
              </a:rPr>
              <a:t>事</a:t>
            </a:r>
            <a:r>
              <a:rPr lang="zh-TW" altLang="en-US" sz="1600">
                <a:ea typeface="微軟正黑體"/>
              </a:rPr>
              <a:t>前佈置(早上11:00)  </a:t>
            </a:r>
            <a:r>
              <a:rPr lang="zh-TW" sz="1600">
                <a:ea typeface="微軟正黑體"/>
              </a:rPr>
              <a:t>抽籤</a:t>
            </a:r>
            <a:r>
              <a:rPr lang="zh-TW" altLang="en-US" sz="1600">
                <a:ea typeface="微軟正黑體"/>
              </a:rPr>
              <a:t>  5人</a:t>
            </a:r>
            <a:endParaRPr lang="zh-TW" altLang="en-US" sz="1600" dirty="0">
              <a:ea typeface="微軟正黑體"/>
            </a:endParaRPr>
          </a:p>
          <a:p>
            <a:pPr>
              <a:buClr>
                <a:srgbClr val="EB3D9F"/>
              </a:buClr>
            </a:pPr>
            <a:r>
              <a:rPr lang="zh-TW" sz="1600">
                <a:ea typeface="+mn-lt"/>
                <a:cs typeface="+mn-lt"/>
              </a:rPr>
              <a:t>工作分配</a:t>
            </a:r>
            <a:endParaRPr lang="zh-TW" altLang="en-US" sz="1600" dirty="0">
              <a:ea typeface="微軟正黑體"/>
            </a:endParaRPr>
          </a:p>
          <a:p>
            <a:pPr>
              <a:buClr>
                <a:srgbClr val="EB3D9F"/>
              </a:buClr>
            </a:pPr>
            <a:r>
              <a:rPr lang="zh-TW" sz="1600">
                <a:ea typeface="+mn-lt"/>
                <a:cs typeface="+mn-lt"/>
              </a:rPr>
              <a:t>主持：</a:t>
            </a:r>
            <a:r>
              <a:rPr lang="zh-TW" altLang="en-US" sz="1600">
                <a:ea typeface="+mn-lt"/>
                <a:cs typeface="+mn-lt"/>
              </a:rPr>
              <a:t>主持人 4人 </a:t>
            </a:r>
            <a:r>
              <a:rPr lang="zh-TW" sz="1600">
                <a:ea typeface="+mn-lt"/>
                <a:cs typeface="+mn-lt"/>
              </a:rPr>
              <a:t>分時數前1.5小時2 人</a:t>
            </a:r>
            <a:endParaRPr lang="zh-TW" sz="16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Clr>
                <a:srgbClr val="EB3D9F"/>
              </a:buClr>
            </a:pPr>
            <a:r>
              <a:rPr lang="zh-TW" sz="1600">
                <a:ea typeface="+mn-lt"/>
                <a:cs typeface="+mn-lt"/>
              </a:rPr>
              <a:t>場控：抽</a:t>
            </a:r>
            <a:r>
              <a:rPr lang="zh-TW" altLang="en-US" sz="1600">
                <a:ea typeface="+mn-lt"/>
                <a:cs typeface="+mn-lt"/>
              </a:rPr>
              <a:t>籤2人</a:t>
            </a:r>
            <a:endParaRPr lang="zh-TW" altLang="en-US" sz="1600"/>
          </a:p>
          <a:p>
            <a:pPr>
              <a:buClr>
                <a:srgbClr val="EB3D9F"/>
              </a:buClr>
            </a:pPr>
            <a:r>
              <a:rPr lang="zh-TW" sz="1600">
                <a:ea typeface="+mn-lt"/>
                <a:cs typeface="+mn-lt"/>
              </a:rPr>
              <a:t>音控：</a:t>
            </a:r>
            <a:r>
              <a:rPr lang="zh-TW" altLang="en-US" sz="1600">
                <a:ea typeface="+mn-lt"/>
                <a:cs typeface="+mn-lt"/>
              </a:rPr>
              <a:t>抽籤1人  </a:t>
            </a:r>
            <a:endParaRPr lang="zh-TW" sz="1600">
              <a:ea typeface="微軟正黑體"/>
            </a:endParaRPr>
          </a:p>
          <a:p>
            <a:pPr>
              <a:buClr>
                <a:srgbClr val="EB3D9F"/>
              </a:buClr>
            </a:pPr>
            <a:r>
              <a:rPr lang="zh-TW" sz="1600">
                <a:ea typeface="+mn-lt"/>
                <a:cs typeface="+mn-lt"/>
              </a:rPr>
              <a:t>拍照：</a:t>
            </a:r>
            <a:r>
              <a:rPr lang="zh-TW" altLang="en-US" sz="1600">
                <a:ea typeface="+mn-lt"/>
                <a:cs typeface="+mn-lt"/>
              </a:rPr>
              <a:t>抽籤4人 分時數前1.5小時2 人</a:t>
            </a:r>
            <a:endParaRPr lang="zh-TW" sz="1600">
              <a:ea typeface="微軟正黑體"/>
            </a:endParaRPr>
          </a:p>
          <a:p>
            <a:pPr>
              <a:buClr>
                <a:srgbClr val="EB3D9F"/>
              </a:buClr>
            </a:pPr>
            <a:r>
              <a:rPr lang="zh-TW" sz="1600">
                <a:ea typeface="+mn-lt"/>
                <a:cs typeface="+mn-lt"/>
              </a:rPr>
              <a:t>錄影：</a:t>
            </a:r>
            <a:r>
              <a:rPr lang="zh-TW" altLang="en-US" sz="1600">
                <a:ea typeface="+mn-lt"/>
                <a:cs typeface="+mn-lt"/>
              </a:rPr>
              <a:t>抽籤1人  是否有</a:t>
            </a:r>
            <a:r>
              <a:rPr lang="zh-TW" sz="1600">
                <a:ea typeface="+mn-lt"/>
                <a:cs typeface="+mn-lt"/>
              </a:rPr>
              <a:t>錄影</a:t>
            </a:r>
            <a:r>
              <a:rPr lang="zh-TW" altLang="en-US" sz="1600">
                <a:ea typeface="+mn-lt"/>
                <a:cs typeface="+mn-lt"/>
              </a:rPr>
              <a:t>機放置好就可</a:t>
            </a:r>
            <a:endParaRPr lang="zh-TW" altLang="en-US" sz="1600">
              <a:ea typeface="微軟正黑體"/>
            </a:endParaRPr>
          </a:p>
          <a:p>
            <a:pPr>
              <a:buClr>
                <a:srgbClr val="EB3D9F"/>
              </a:buClr>
            </a:pPr>
            <a:r>
              <a:rPr lang="zh-TW" sz="1600">
                <a:ea typeface="+mn-lt"/>
                <a:cs typeface="+mn-lt"/>
              </a:rPr>
              <a:t>頒獎</a:t>
            </a:r>
            <a:r>
              <a:rPr lang="zh-TW" altLang="en-US" sz="1600">
                <a:ea typeface="+mn-lt"/>
                <a:cs typeface="+mn-lt"/>
              </a:rPr>
              <a:t>、活動協助人員</a:t>
            </a:r>
            <a:r>
              <a:rPr lang="en-US" altLang="zh-TW" sz="1600" dirty="0">
                <a:ea typeface="+mn-lt"/>
                <a:cs typeface="+mn-lt"/>
              </a:rPr>
              <a:t>(</a:t>
            </a:r>
            <a:r>
              <a:rPr lang="en-US" altLang="zh-TW" sz="1600" dirty="0" err="1">
                <a:ea typeface="+mn-lt"/>
                <a:cs typeface="+mn-lt"/>
              </a:rPr>
              <a:t>同組人</a:t>
            </a:r>
            <a:r>
              <a:rPr lang="en-US" altLang="en-US" sz="1600" dirty="0">
                <a:ea typeface="+mn-lt"/>
                <a:cs typeface="+mn-lt"/>
              </a:rPr>
              <a:t>)</a:t>
            </a:r>
            <a:r>
              <a:rPr lang="zh-TW" sz="1600">
                <a:ea typeface="+mn-lt"/>
                <a:cs typeface="+mn-lt"/>
              </a:rPr>
              <a:t>：</a:t>
            </a:r>
            <a:r>
              <a:rPr lang="zh-TW" altLang="en-US" sz="1600">
                <a:ea typeface="+mn-lt"/>
                <a:cs typeface="+mn-lt"/>
              </a:rPr>
              <a:t>抽籤4人 分為A組及B組二人一組，當</a:t>
            </a:r>
            <a:endParaRPr lang="zh-TW" altLang="en-US" sz="1600">
              <a:solidFill>
                <a:srgbClr val="404040"/>
              </a:solidFill>
              <a:ea typeface="+mn-lt"/>
              <a:cs typeface="+mn-lt"/>
            </a:endParaRPr>
          </a:p>
          <a:p>
            <a:pPr marL="0" indent="0">
              <a:buClr>
                <a:srgbClr val="EB3D9F"/>
              </a:buClr>
              <a:buNone/>
            </a:pPr>
            <a:r>
              <a:rPr lang="zh-TW" sz="1600">
                <a:ea typeface="微軟正黑體"/>
              </a:rPr>
              <a:t>    </a:t>
            </a:r>
            <a:r>
              <a:rPr lang="zh-TW" altLang="en-US" sz="1600">
                <a:ea typeface="微軟正黑體"/>
              </a:rPr>
              <a:t>    </a:t>
            </a:r>
            <a:r>
              <a:rPr lang="zh-TW" sz="1600">
                <a:ea typeface="微軟正黑體"/>
              </a:rPr>
              <a:t>頒獎、活動</a:t>
            </a:r>
            <a:r>
              <a:rPr lang="zh-TW" altLang="en-US" sz="1600">
                <a:ea typeface="微軟正黑體"/>
              </a:rPr>
              <a:t>為連續時，由A組人員</a:t>
            </a:r>
            <a:r>
              <a:rPr lang="zh-TW" sz="1600">
                <a:ea typeface="微軟正黑體"/>
              </a:rPr>
              <a:t>頒獎</a:t>
            </a:r>
            <a:r>
              <a:rPr lang="zh-TW" altLang="en-US" sz="1600">
                <a:ea typeface="微軟正黑體"/>
              </a:rPr>
              <a:t>、B組人員就接下來的活動</a:t>
            </a:r>
            <a:r>
              <a:rPr lang="zh-TW" sz="1600">
                <a:ea typeface="微軟正黑體"/>
              </a:rPr>
              <a:t>協助</a:t>
            </a:r>
            <a:r>
              <a:rPr lang="zh-TW" altLang="en-US" sz="1600">
                <a:ea typeface="微軟正黑體"/>
              </a:rPr>
              <a:t>，機動性協助</a:t>
            </a:r>
            <a:endParaRPr lang="zh-TW" altLang="en-US" sz="1600" dirty="0">
              <a:ea typeface="微軟正黑體"/>
            </a:endParaRPr>
          </a:p>
          <a:p>
            <a:pPr marL="0" indent="0">
              <a:buNone/>
            </a:pPr>
            <a:r>
              <a:rPr lang="zh-TW" sz="1600" dirty="0">
                <a:ea typeface="微軟正黑體"/>
              </a:rPr>
              <a:t>     </a:t>
            </a:r>
          </a:p>
          <a:p>
            <a:pPr>
              <a:buClr>
                <a:srgbClr val="EB3D9F"/>
              </a:buClr>
            </a:pPr>
            <a:r>
              <a:rPr lang="zh-TW" altLang="en-US" sz="1600">
                <a:ea typeface="微軟正黑體"/>
              </a:rPr>
              <a:t>尾牙結束後:抽籤2人協助</a:t>
            </a:r>
            <a:endParaRPr lang="zh-TW" altLang="en-US" sz="1600" dirty="0">
              <a:ea typeface="微軟正黑體"/>
            </a:endParaRPr>
          </a:p>
          <a:p>
            <a:pPr>
              <a:buClr>
                <a:srgbClr val="EB3D9F"/>
              </a:buClr>
            </a:pPr>
            <a:endParaRPr lang="zh-TW" altLang="en-US" dirty="0">
              <a:ea typeface="微軟正黑體"/>
            </a:endParaRPr>
          </a:p>
          <a:p>
            <a:pPr marL="0" indent="0">
              <a:buClr>
                <a:srgbClr val="EB3D9F"/>
              </a:buClr>
              <a:buNone/>
            </a:pPr>
            <a:r>
              <a:rPr lang="zh-TW" dirty="0">
                <a:ea typeface="微軟正黑體"/>
              </a:rPr>
              <a:t> </a:t>
            </a:r>
            <a:r>
              <a:rPr lang="zh-TW" altLang="en-US" dirty="0">
                <a:ea typeface="微軟正黑體"/>
              </a:rPr>
              <a:t> </a:t>
            </a:r>
            <a:endParaRPr lang="zh-TW" dirty="0">
              <a:ea typeface="微軟正黑體"/>
            </a:endParaRPr>
          </a:p>
          <a:p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4274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DAF8575-DDD0-43E3-95E0-CF812F06A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CCA1792-C598-45A3-82EC-60F305DCB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84F3208-0F93-4217-AB03-C74E56572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F862CE08-0EF8-4D30-9F34-5CEF2E35C9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CF707B85-7DC9-4931-8C39-C2802F1FF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9409EB7-9549-43B7-9597-771D971CA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995D6453-5D14-445F-B965-BA2F9177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62F0BDF-F752-4F9D-826C-376BA43AF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019CD532-CC2D-41A0-B2E5-1A177CC060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751829B1-B54D-428F-B99F-234847A0C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C8483DED-5995-47C7-9E6E-3340224B3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9178BE9-53D8-441A-8691-0ED3B464B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0982B1B6-612C-D9E8-807E-CB82ABA351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8362671"/>
              </p:ext>
            </p:extLst>
          </p:nvPr>
        </p:nvGraphicFramePr>
        <p:xfrm>
          <a:off x="105655" y="-28815"/>
          <a:ext cx="8902985" cy="726512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947025">
                  <a:extLst>
                    <a:ext uri="{9D8B030D-6E8A-4147-A177-3AD203B41FA5}">
                      <a16:colId xmlns:a16="http://schemas.microsoft.com/office/drawing/2014/main" val="278690877"/>
                    </a:ext>
                  </a:extLst>
                </a:gridCol>
                <a:gridCol w="1161445">
                  <a:extLst>
                    <a:ext uri="{9D8B030D-6E8A-4147-A177-3AD203B41FA5}">
                      <a16:colId xmlns:a16="http://schemas.microsoft.com/office/drawing/2014/main" val="2672703953"/>
                    </a:ext>
                  </a:extLst>
                </a:gridCol>
                <a:gridCol w="2121328">
                  <a:extLst>
                    <a:ext uri="{9D8B030D-6E8A-4147-A177-3AD203B41FA5}">
                      <a16:colId xmlns:a16="http://schemas.microsoft.com/office/drawing/2014/main" val="201416479"/>
                    </a:ext>
                  </a:extLst>
                </a:gridCol>
                <a:gridCol w="3312675">
                  <a:extLst>
                    <a:ext uri="{9D8B030D-6E8A-4147-A177-3AD203B41FA5}">
                      <a16:colId xmlns:a16="http://schemas.microsoft.com/office/drawing/2014/main" val="3319576487"/>
                    </a:ext>
                  </a:extLst>
                </a:gridCol>
                <a:gridCol w="1360512">
                  <a:extLst>
                    <a:ext uri="{9D8B030D-6E8A-4147-A177-3AD203B41FA5}">
                      <a16:colId xmlns:a16="http://schemas.microsoft.com/office/drawing/2014/main" val="1201410534"/>
                    </a:ext>
                  </a:extLst>
                </a:gridCol>
              </a:tblGrid>
              <a:tr h="41004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序號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時段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流程內容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備註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工作人員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695793"/>
                  </a:ext>
                </a:extLst>
              </a:tr>
              <a:tr h="90419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11:00-11:30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工作人員集合、場地佈置確認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af-ZA" sz="1100" b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check-list</a:t>
                      </a:r>
                      <a:r>
                        <a:rPr lang="af-ZA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 1)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與第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位到場員工核對授彩條人名 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2)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確認舞台可否容納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8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人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前置5人</a:t>
                      </a:r>
                      <a:endParaRPr lang="zh-TW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03202"/>
                  </a:ext>
                </a:extLst>
              </a:tr>
              <a:tr h="4100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12:00-12:03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主持人開場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zh-TW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主持人、</a:t>
                      </a:r>
                      <a:r>
                        <a:rPr lang="zh-TW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拍照</a:t>
                      </a:r>
                      <a:endParaRPr lang="zh-TW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937922"/>
                  </a:ext>
                </a:extLst>
              </a:tr>
              <a:tr h="4100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12:03-12:15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長官致詞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董事長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/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總經理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/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副總*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2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名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zh-TW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拍照</a:t>
                      </a:r>
                      <a:endParaRPr lang="zh-TW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93832"/>
                  </a:ext>
                </a:extLst>
              </a:tr>
              <a:tr h="87265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12:15-12:20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出菜；</a:t>
                      </a:r>
                      <a:r>
                        <a:rPr lang="en-US" sz="1100" b="0" i="0" u="none" strike="noStrike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有獎徵答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【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抽紅包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】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紅包5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00*10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包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主持人 、</a:t>
                      </a:r>
                      <a:r>
                        <a:rPr lang="zh-TW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拍照、頒獎</a:t>
                      </a:r>
                      <a:r>
                        <a:rPr lang="en-US" altLang="zh-TW" sz="1200" b="0" i="0" u="none" strike="noStrike" noProof="0" dirty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(</a:t>
                      </a:r>
                      <a:r>
                        <a:rPr lang="zh-TW" altLang="en-US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活動協助</a:t>
                      </a:r>
                      <a:r>
                        <a:rPr lang="en-US" altLang="zh-TW" sz="1200" b="0" i="0" u="none" strike="noStrike" noProof="0" dirty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)</a:t>
                      </a:r>
                      <a:endParaRPr lang="zh-TW" sz="1200" dirty="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85602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12:20-12:30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用餐時間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開放現場卡拉</a:t>
                      </a:r>
                      <a:r>
                        <a:rPr lang="af-ZA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OK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歌唱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場控、</a:t>
                      </a:r>
                      <a:r>
                        <a:rPr lang="zh-TW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拍照</a:t>
                      </a:r>
                      <a:r>
                        <a:rPr lang="zh-TW" altLang="en-US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、音控</a:t>
                      </a:r>
                      <a:endParaRPr lang="zh-TW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575511"/>
                  </a:ext>
                </a:extLst>
              </a:tr>
              <a:tr h="63083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12:30-12:40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授彩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【</a:t>
                      </a:r>
                      <a:r>
                        <a:rPr lang="en-US" altLang="zh-TW" sz="1100" b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餐卷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】</a:t>
                      </a:r>
                      <a:endParaRPr lang="zh-TW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福袋*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10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包，抽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10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名，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5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名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組拍照留念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zh-TW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頒獎工作人員</a:t>
                      </a:r>
                      <a:r>
                        <a:rPr lang="en-US" altLang="zh-TW" sz="1200" b="0" i="0" u="none" strike="noStrike" noProof="0" dirty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(</a:t>
                      </a:r>
                      <a:r>
                        <a:rPr lang="zh-TW" altLang="en-US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活動協助</a:t>
                      </a:r>
                      <a:r>
                        <a:rPr lang="en-US" altLang="zh-TW" sz="1200" b="0" i="0" u="none" strike="noStrike" noProof="0" dirty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)</a:t>
                      </a:r>
                      <a:endParaRPr lang="zh-TW" dirty="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44471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7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12:40-12:50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用餐時間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開放現場卡拉</a:t>
                      </a:r>
                      <a:r>
                        <a:rPr lang="af-ZA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OK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歌唱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場控、</a:t>
                      </a:r>
                      <a:r>
                        <a:rPr lang="zh-TW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拍照</a:t>
                      </a:r>
                      <a:r>
                        <a:rPr lang="zh-TW" altLang="en-US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、音控</a:t>
                      </a:r>
                      <a:endParaRPr lang="zh-TW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185246"/>
                  </a:ext>
                </a:extLst>
              </a:tr>
              <a:tr h="65186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12:50-13:20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頒獎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【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業績獎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】【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年資獎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】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年資獎牌頒發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主持人 </a:t>
                      </a:r>
                      <a:r>
                        <a:rPr lang="zh-TW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頒獎</a:t>
                      </a:r>
                      <a:r>
                        <a:rPr lang="en-US" altLang="zh-TW" sz="1200" b="0" i="0" u="none" strike="noStrike" noProof="0" dirty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(</a:t>
                      </a:r>
                      <a:r>
                        <a:rPr lang="zh-TW" altLang="en-US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活動協助</a:t>
                      </a:r>
                      <a:r>
                        <a:rPr lang="en-US" altLang="zh-TW" sz="1200" b="0" i="0" u="none" strike="noStrike" noProof="0" dirty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)</a:t>
                      </a:r>
                      <a:r>
                        <a:rPr lang="zh-TW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、拍照</a:t>
                      </a:r>
                      <a:endParaRPr lang="zh-TW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945837"/>
                  </a:ext>
                </a:extLst>
              </a:tr>
              <a:tr h="65186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9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13:20-13:40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遊戲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【</a:t>
                      </a:r>
                      <a:r>
                        <a:rPr lang="en-US" altLang="zh-TW" sz="11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終極密碼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】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紅包5</a:t>
                      </a: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00*10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包</a:t>
                      </a:r>
                      <a:endParaRPr lang="en-US" altLang="zh-TW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zh-TW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主持人 頒獎</a:t>
                      </a:r>
                      <a:r>
                        <a:rPr lang="en-US" altLang="zh-TW" sz="1200" b="0" i="0" u="none" strike="noStrike" noProof="0" dirty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(</a:t>
                      </a:r>
                      <a:r>
                        <a:rPr lang="en-US" altLang="zh-TW" sz="1200" b="0" i="0" u="none" strike="noStrike" noProof="0" dirty="0" err="1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活動協助</a:t>
                      </a:r>
                      <a:r>
                        <a:rPr lang="en-US" altLang="zh-TW" sz="1200" b="0" i="0" u="none" strike="noStrike" noProof="0" dirty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)</a:t>
                      </a:r>
                      <a:r>
                        <a:rPr lang="zh-TW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、拍照</a:t>
                      </a:r>
                      <a:endParaRPr lang="zh-TW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665865"/>
                  </a:ext>
                </a:extLst>
              </a:tr>
              <a:tr h="63083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10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13:40-15:00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用餐時間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開放現場卡拉</a:t>
                      </a:r>
                      <a:r>
                        <a:rPr lang="af-ZA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OK</a:t>
                      </a: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歌唱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zh-TW" sz="1100" b="0" i="0" u="none" strike="noStrike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場控、</a:t>
                      </a:r>
                      <a:r>
                        <a:rPr lang="zh-TW" sz="1200" b="0" i="0" u="none" strike="noStrike" noProof="0">
                          <a:solidFill>
                            <a:srgbClr val="404040"/>
                          </a:solidFill>
                          <a:effectLst/>
                          <a:latin typeface="Trebuchet MS"/>
                        </a:rPr>
                        <a:t>拍照、音控</a:t>
                      </a:r>
                      <a:endParaRPr lang="zh-TW" altLang="en-US" sz="1200" b="0" i="0" u="none" strike="noStrike" noProof="0">
                        <a:solidFill>
                          <a:srgbClr val="404040"/>
                        </a:solidFill>
                        <a:effectLst/>
                        <a:latin typeface="Trebuchet MS"/>
                      </a:endParaRP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84441"/>
                  </a:ext>
                </a:extLst>
              </a:tr>
              <a:tr h="4100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11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15:00</a:t>
                      </a:r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1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餐會結束</a:t>
                      </a:r>
                      <a:endParaRPr lang="zh-TW" sz="1100"/>
                    </a:p>
                  </a:txBody>
                  <a:tcPr marL="148008" marR="111006" marT="74004" marB="7400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                                                                                        </a:t>
                      </a:r>
                      <a:endParaRPr lang="zh-TW" dirty="0"/>
                    </a:p>
                  </a:txBody>
                  <a:tcPr marL="148008" marR="111006" marT="74004" marB="740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1200" b="0" i="0" u="none" strike="noStrike" noProof="0">
                          <a:solidFill>
                            <a:srgbClr val="404040"/>
                          </a:solidFill>
                          <a:latin typeface="Trebuchet MS"/>
                        </a:rPr>
                        <a:t>結束2人</a:t>
                      </a:r>
                      <a:endParaRPr lang="zh-TW" altLang="en-US" sz="1200" b="0" i="0" u="none" strike="noStrike" noProof="0" dirty="0">
                        <a:solidFill>
                          <a:srgbClr val="404040"/>
                        </a:solidFill>
                        <a:latin typeface="Trebuchet MS"/>
                      </a:endParaRPr>
                    </a:p>
                  </a:txBody>
                  <a:tcPr marL="148008" marR="111006" marT="74004" marB="740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099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900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🍱 餐飲與場地安排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/>
          </a:p>
          <a:p>
            <a:r>
              <a:rPr dirty="0"/>
              <a:t>📍</a:t>
            </a:r>
            <a:r>
              <a:rPr dirty="0" err="1"/>
              <a:t>場地</a:t>
            </a:r>
            <a:r>
              <a:rPr dirty="0"/>
              <a:t>：</a:t>
            </a:r>
            <a:r>
              <a:rPr lang="zh-TW">
                <a:ea typeface="微軟正黑體"/>
              </a:rPr>
              <a:t>圓山</a:t>
            </a:r>
            <a:r>
              <a:rPr lang="zh-TW" altLang="en-US">
                <a:ea typeface="微軟正黑體"/>
              </a:rPr>
              <a:t>宴會廳</a:t>
            </a:r>
            <a:endParaRPr>
              <a:ea typeface="微軟正黑體"/>
            </a:endParaRPr>
          </a:p>
          <a:p>
            <a:r>
              <a:rPr dirty="0"/>
              <a:t>🍽️ </a:t>
            </a:r>
            <a:r>
              <a:rPr dirty="0" err="1"/>
              <a:t>餐飲：中式合菜十人桌，共</a:t>
            </a:r>
            <a:r>
              <a:rPr dirty="0"/>
              <a:t> 10 桌</a:t>
            </a:r>
          </a:p>
          <a:p>
            <a:r>
              <a:rPr dirty="0"/>
              <a:t>🎵 </a:t>
            </a:r>
            <a:r>
              <a:rPr lang="zh-TW">
                <a:ea typeface="微軟正黑體"/>
              </a:rPr>
              <a:t>場</a:t>
            </a:r>
            <a:r>
              <a:rPr lang="zh-TW" altLang="en-US">
                <a:ea typeface="微軟正黑體"/>
              </a:rPr>
              <a:t>控、</a:t>
            </a:r>
            <a:r>
              <a:rPr lang="zh-TW">
                <a:ea typeface="微軟正黑體"/>
              </a:rPr>
              <a:t>音效</a:t>
            </a:r>
            <a:r>
              <a:rPr dirty="0"/>
              <a:t>：</a:t>
            </a:r>
            <a:r>
              <a:rPr dirty="0" err="1"/>
              <a:t>現場音控</a:t>
            </a:r>
            <a:r>
              <a:rPr dirty="0"/>
              <a:t> + </a:t>
            </a:r>
            <a:r>
              <a:rPr dirty="0" err="1"/>
              <a:t>背景音樂</a:t>
            </a:r>
            <a:endParaRPr dirty="0"/>
          </a:p>
          <a:p>
            <a:r>
              <a:rPr dirty="0"/>
              <a:t>📷 </a:t>
            </a:r>
            <a:r>
              <a:rPr lang="zh-TW">
                <a:ea typeface="微軟正黑體"/>
              </a:rPr>
              <a:t>攝影</a:t>
            </a:r>
            <a:r>
              <a:rPr lang="zh-TW" altLang="en-US">
                <a:ea typeface="微軟正黑體"/>
              </a:rPr>
              <a:t>抽簽決定</a:t>
            </a:r>
            <a:r>
              <a:rPr dirty="0"/>
              <a:t>：</a:t>
            </a:r>
            <a:r>
              <a:rPr lang="zh-TW">
                <a:ea typeface="微軟正黑體"/>
              </a:rPr>
              <a:t>攝影師</a:t>
            </a:r>
            <a:r>
              <a:rPr dirty="0"/>
              <a:t>，</a:t>
            </a:r>
            <a:r>
              <a:rPr lang="zh-TW" altLang="en-US">
                <a:ea typeface="微軟正黑體"/>
              </a:rPr>
              <a:t>含團體照與花絮紀錄</a:t>
            </a:r>
            <a:endParaRPr>
              <a:ea typeface="微軟正黑體"/>
            </a:endParaRP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🎲 </a:t>
            </a:r>
            <a:r>
              <a:rPr lang="zh-TW"/>
              <a:t>遊戲</a:t>
            </a:r>
            <a:endParaRPr lang="zh-TW" altLang="en-US"/>
          </a:p>
          <a:p>
            <a:endParaRPr lang="zh-TW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/>
          </a:p>
          <a:p>
            <a:r>
              <a:rPr dirty="0" err="1"/>
              <a:t>遊戲內容</a:t>
            </a:r>
            <a:r>
              <a:rPr dirty="0"/>
              <a:t>：</a:t>
            </a:r>
          </a:p>
          <a:p>
            <a:r>
              <a:t>1️⃣ </a:t>
            </a:r>
            <a:r>
              <a:rPr lang="zh-TW" altLang="en-US">
                <a:ea typeface="微軟正黑體"/>
              </a:rPr>
              <a:t> </a:t>
            </a:r>
            <a:r>
              <a:rPr lang="zh-TW">
                <a:ea typeface="微軟正黑體"/>
              </a:rPr>
              <a:t>終</a:t>
            </a:r>
            <a:r>
              <a:rPr lang="zh-TW" altLang="en-US">
                <a:ea typeface="微軟正黑體"/>
              </a:rPr>
              <a:t>極密碼 </a:t>
            </a:r>
            <a:endParaRPr lang="zh-TW">
              <a:ea typeface="微軟正黑體"/>
            </a:endParaRPr>
          </a:p>
          <a:p>
            <a:r>
              <a:t>2️⃣ </a:t>
            </a:r>
            <a:r>
              <a:rPr lang="zh-TW" altLang="en-US">
                <a:ea typeface="微軟正黑體"/>
              </a:rPr>
              <a:t> 有獎問答</a:t>
            </a:r>
            <a:endParaRPr lang="zh-TW">
              <a:ea typeface="微軟正黑體"/>
            </a:endParaRPr>
          </a:p>
          <a:p>
            <a:endParaRPr lang="zh-TW" dirty="0">
              <a:ea typeface="微軟正黑體"/>
            </a:endParaRPr>
          </a:p>
          <a:p>
            <a:pPr>
              <a:buClr>
                <a:srgbClr val="EB3D9F"/>
              </a:buClr>
            </a:pPr>
            <a:endParaRPr/>
          </a:p>
          <a:p>
            <a:pPr>
              <a:buClr>
                <a:srgbClr val="EB3D9F"/>
              </a:buClr>
            </a:pPr>
            <a:endParaRPr lang="en-US" altLang="zh-TW" dirty="0">
              <a:ea typeface="微軟正黑體"/>
            </a:endParaRPr>
          </a:p>
          <a:p>
            <a:endParaRPr lang="zh-TW"/>
          </a:p>
          <a:p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BEF80-DEA6-6803-1C73-448DB914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/>
              <a:t>獎品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F0B673-9C65-D1A2-E028-95D44640D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22708"/>
            <a:ext cx="6347714" cy="441865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zh-TW" altLang="en-US"/>
          </a:p>
          <a:p>
            <a:r>
              <a:rPr lang="zh-TW" altLang="en-US">
                <a:ea typeface="微軟正黑體"/>
              </a:rPr>
              <a:t>獎品類型：</a:t>
            </a:r>
            <a:endParaRPr lang="en-US" altLang="zh-TW">
              <a:ea typeface="微軟正黑體"/>
            </a:endParaRPr>
          </a:p>
          <a:p>
            <a:r>
              <a:rPr lang="zh-TW" altLang="en-US">
                <a:ea typeface="微軟正黑體"/>
              </a:rPr>
              <a:t>🏆</a:t>
            </a:r>
            <a:r>
              <a:rPr lang="en-US" altLang="zh-TW" dirty="0">
                <a:ea typeface="微軟正黑體"/>
              </a:rPr>
              <a:t> </a:t>
            </a:r>
            <a:r>
              <a:rPr lang="zh-TW" altLang="en-US">
                <a:ea typeface="微軟正黑體"/>
              </a:rPr>
              <a:t>頭獎：5000*1</a:t>
            </a:r>
            <a:endParaRPr lang="en-US" altLang="zh-TW">
              <a:ea typeface="微軟正黑體"/>
            </a:endParaRPr>
          </a:p>
          <a:p>
            <a:r>
              <a:rPr lang="zh-TW" altLang="en-US">
                <a:ea typeface="微軟正黑體"/>
              </a:rPr>
              <a:t>🥈</a:t>
            </a:r>
            <a:r>
              <a:rPr lang="en-US" altLang="zh-TW" dirty="0">
                <a:ea typeface="微軟正黑體"/>
              </a:rPr>
              <a:t> </a:t>
            </a:r>
            <a:r>
              <a:rPr lang="zh-TW" altLang="en-US">
                <a:ea typeface="微軟正黑體"/>
              </a:rPr>
              <a:t>二獎 </a:t>
            </a:r>
            <a:r>
              <a:rPr lang="zh-TW">
                <a:ea typeface="微軟正黑體"/>
              </a:rPr>
              <a:t>：</a:t>
            </a:r>
            <a:r>
              <a:rPr lang="en-US" altLang="zh-TW" dirty="0">
                <a:ea typeface="微軟正黑體"/>
              </a:rPr>
              <a:t>2000 * 5</a:t>
            </a:r>
            <a:endParaRPr lang="zh-TW" altLang="en-US" dirty="0">
              <a:ea typeface="微軟正黑體"/>
            </a:endParaRPr>
          </a:p>
          <a:p>
            <a:r>
              <a:rPr lang="zh-TW" altLang="en-US">
                <a:ea typeface="微軟正黑體"/>
              </a:rPr>
              <a:t>🥉</a:t>
            </a:r>
            <a:r>
              <a:rPr lang="en-US" altLang="zh-TW" dirty="0">
                <a:ea typeface="微軟正黑體"/>
              </a:rPr>
              <a:t> </a:t>
            </a:r>
            <a:r>
              <a:rPr lang="zh-TW" altLang="en-US">
                <a:ea typeface="微軟正黑體"/>
              </a:rPr>
              <a:t>三獎： 1000 *  10</a:t>
            </a:r>
          </a:p>
          <a:p>
            <a:pPr>
              <a:buClr>
                <a:srgbClr val="EB3D9F"/>
              </a:buClr>
            </a:pPr>
            <a:r>
              <a:rPr lang="zh-TW" altLang="en-US">
                <a:ea typeface="微軟正黑體"/>
              </a:rPr>
              <a:t>獎台   500  *30</a:t>
            </a:r>
            <a:endParaRPr lang="zh-TW" altLang="en-US" dirty="0">
              <a:ea typeface="微軟正黑體"/>
            </a:endParaRPr>
          </a:p>
          <a:p>
            <a:r>
              <a:rPr lang="zh-TW" altLang="en-US">
                <a:ea typeface="微軟正黑體"/>
              </a:rPr>
              <a:t>🎁</a:t>
            </a:r>
            <a:r>
              <a:rPr lang="en-US" altLang="zh-TW" dirty="0">
                <a:ea typeface="微軟正黑體"/>
              </a:rPr>
              <a:t> </a:t>
            </a:r>
            <a:r>
              <a:rPr lang="zh-TW" altLang="en-US">
                <a:ea typeface="微軟正黑體"/>
              </a:rPr>
              <a:t>安慰獎：</a:t>
            </a:r>
            <a:r>
              <a:rPr lang="zh-TW">
                <a:ea typeface="微軟正黑體"/>
              </a:rPr>
              <a:t>餐券</a:t>
            </a:r>
            <a:r>
              <a:rPr lang="en-US" altLang="zh-TW" dirty="0">
                <a:ea typeface="+mn-lt"/>
              </a:rPr>
              <a:t> / </a:t>
            </a:r>
            <a:r>
              <a:rPr lang="zh-TW">
                <a:ea typeface="微軟正黑體"/>
              </a:rPr>
              <a:t>禮券</a:t>
            </a:r>
            <a:r>
              <a:rPr lang="zh-TW" altLang="en-US">
                <a:ea typeface="微軟正黑體"/>
              </a:rPr>
              <a:t> 84 *200 </a:t>
            </a:r>
            <a:endParaRPr lang="en-US" altLang="zh-TW">
              <a:ea typeface="微軟正黑體"/>
            </a:endParaRPr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F02571-C542-3116-5CDA-D46073F4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E8FC1-DD1F-46C2-915D-88802E8B029B}" type="datetime1">
              <a:rPr lang="en-US" altLang="zh-TW"/>
              <a:t>11/13/2025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EB782A-8982-3B15-1189-6E0E34C10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09AE49-738A-F94A-98A1-0D466E515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💰 </a:t>
            </a:r>
            <a:r>
              <a:rPr lang="zh-TW"/>
              <a:t>預算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/>
          </a:p>
          <a:p>
            <a:r>
              <a:rPr dirty="0"/>
              <a:t>💵 </a:t>
            </a:r>
            <a:r>
              <a:rPr dirty="0" err="1"/>
              <a:t>總預算：約</a:t>
            </a:r>
            <a:r>
              <a:rPr dirty="0"/>
              <a:t> </a:t>
            </a:r>
            <a:r>
              <a:rPr lang="en-US" dirty="0"/>
              <a:t>71,800</a:t>
            </a:r>
            <a:r>
              <a:rPr dirty="0"/>
              <a:t> 元</a:t>
            </a:r>
          </a:p>
          <a:p>
            <a:r>
              <a:rPr dirty="0"/>
              <a:t>- 獎品預算：</a:t>
            </a:r>
            <a:r>
              <a:rPr lang="en-US" dirty="0"/>
              <a:t>56,800</a:t>
            </a:r>
            <a:r>
              <a:rPr dirty="0"/>
              <a:t> 元</a:t>
            </a:r>
          </a:p>
          <a:p>
            <a:r>
              <a:rPr dirty="0"/>
              <a:t>- </a:t>
            </a:r>
            <a:r>
              <a:rPr dirty="0" err="1"/>
              <a:t>佈置</a:t>
            </a:r>
            <a:r>
              <a:rPr dirty="0"/>
              <a:t> / </a:t>
            </a:r>
            <a:r>
              <a:rPr dirty="0" err="1"/>
              <a:t>音效</a:t>
            </a:r>
            <a:r>
              <a:rPr lang="zh-TW">
                <a:ea typeface="微軟正黑體"/>
              </a:rPr>
              <a:t>：</a:t>
            </a:r>
            <a:r>
              <a:rPr lang="en-US" altLang="zh-TW" dirty="0">
                <a:ea typeface="微軟正黑體"/>
              </a:rPr>
              <a:t>5</a:t>
            </a:r>
            <a:r>
              <a:rPr lang="en-US" dirty="0"/>
              <a:t>,000</a:t>
            </a:r>
            <a:r>
              <a:rPr dirty="0"/>
              <a:t> 元</a:t>
            </a:r>
          </a:p>
          <a:p>
            <a:r>
              <a:rPr dirty="0"/>
              <a:t>- 備用金：10,000 元</a:t>
            </a:r>
          </a:p>
          <a:p>
            <a:endParaRPr/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如螢幕大小 (4:3)</PresentationFormat>
  <Slides>7</Slides>
  <Notes>0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Facet</vt:lpstr>
      <vt:lpstr>2025 尾牙活動企劃案</vt:lpstr>
      <vt:lpstr>💰 分工</vt:lpstr>
      <vt:lpstr>PowerPoint 簡報</vt:lpstr>
      <vt:lpstr>🍱 餐飲與場地安排</vt:lpstr>
      <vt:lpstr>🎲 遊戲 </vt:lpstr>
      <vt:lpstr>獎品</vt:lpstr>
      <vt:lpstr>💰 預算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447</cp:revision>
  <dcterms:created xsi:type="dcterms:W3CDTF">2013-01-27T09:14:16Z</dcterms:created>
  <dcterms:modified xsi:type="dcterms:W3CDTF">2025-11-14T02:46:49Z</dcterms:modified>
  <cp:category/>
</cp:coreProperties>
</file>